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9F"/>
    <a:srgbClr val="FFC137"/>
    <a:srgbClr val="F2A900"/>
    <a:srgbClr val="D4873B"/>
    <a:srgbClr val="DCEBF3"/>
    <a:srgbClr val="B0D0E4"/>
    <a:srgbClr val="5B8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6E9C-5A2F-4CAB-91C1-B354DE234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156-754C-4DFF-9DAB-60A4F7142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318C3-6167-400B-8A78-CC352884B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E04E-919F-4988-8CE9-E0EED505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557E2-660A-44E4-9927-822504C9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9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559F-10A1-4D57-B419-95A2B9D5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A662-5DDD-42A4-9FE7-FE8FAD2D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90B6-D565-4142-9165-AED13D04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0B300-9CA5-4236-BC6F-FE2E7383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60C39-483B-4227-9FA3-ED3D5927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0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600A-44FD-4B8D-B67A-D8206366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77F6C-9B20-4651-981B-8A6DB917B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9B57A-E3A3-434F-8F12-C75EA0AB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15D8E-D85A-4DB5-980A-4614C181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A1F74-2E46-4033-B2B9-39C91D46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7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743B-1C80-455B-961B-2F4B1054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EAFDE-16C5-48CB-A819-FC29C8E2F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8B4FF-0F1C-42D3-B67C-5B2869C9A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B148F-CB6E-44AA-AD92-CE845AD9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1F598-38B9-4E0C-94C2-F9E437D7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BF675-45C7-4D23-B96F-6959A31C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0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8390-7D20-43D3-924F-B8E0D900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1620B-AF09-40C9-A1F6-043A93D5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97CEE-E02E-406B-B184-3C68E184C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8132C-E506-4851-8DF2-B64600DB5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AE1CC-B1E1-455F-B6FF-5CCB8A2B4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A3F37-48A0-4242-85F2-885C7E70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63DD3-D18B-4B27-9EEF-29B74AB1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44F7D-AA2A-4245-8E5C-97C740AF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FEE1-CE03-4C51-979F-913346A4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9BB83-2811-4706-ACCD-14DD73BB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0FCE1-0EB5-4F98-8EB7-EA4B7F5B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D3E9A-DA88-4AD7-96D2-73392AF1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E80B7-35B9-486F-8598-AFC7BDF6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B0684-636A-439E-A3B9-0132304D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1884A-8C4B-42B5-B176-6034791C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9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4C78-B64A-45C6-B53D-8009BEF2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58387-2669-4FC6-8DDD-5CD24FC87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DF188-834B-48FE-9475-92C028369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5398-E66B-4B32-BD9F-FA97DCED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71ED9-1959-4F3C-B134-F30D4789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9B5C4-4E27-467F-AB99-8A924C3E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45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5E8F-E1FB-4B40-95EC-F8BA9E30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FAD5F-9A78-4CAC-9C36-39AB7AE29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E5E30-AA3D-4968-B131-7651049B2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5B75-A631-4353-A018-48F900A5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24B3-E096-41D3-9682-802740D2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50691-A68C-4ECD-8AA8-AC2DB737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6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C49F-CD83-4387-B18E-51D539AE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9770B-32E9-457C-AC7B-0DF5A4CA7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D5BC-4858-4E0F-8F9B-13869AE9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24F1F-EA24-407D-AFFA-CA831C5A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921E9-411D-41EC-99DE-FEF80BB12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3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E98E5-FD08-48B4-A3B2-00BE883E3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26F3B-03AD-4324-B728-09B84E37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1763-7D6D-40D4-B436-28A23F8E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19BF-59F5-48E2-B363-D2E46E6D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C4E73-9D5F-4CC7-AB74-3410E93D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7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AEBBE-B9A6-4738-8B77-0789D41C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5F30-16E8-40C1-BB4C-2E2BC60D8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039F5-CE61-4DD8-A797-388ABCEE0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3F3B4-0672-4C5A-B17C-F983CDF1DE1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BBAEE-B759-4F48-9DFB-E872CB1C6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7A7F-F9EC-4C09-B81C-E6BE13B82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7354E-0E84-4073-AE17-A19A1F141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 Circle"/>
          <p:cNvSpPr/>
          <p:nvPr/>
        </p:nvSpPr>
        <p:spPr>
          <a:xfrm>
            <a:off x="9900000" y="300000"/>
            <a:ext cx="1600000" cy="160000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731520" y="1219200"/>
            <a:ext cx="9800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600" b="1">
                <a:solidFill>
                  <a:srgbClr val="FFFFFF"/>
                </a:solidFill>
                <a:latin typeface="Georgia"/>
              </a:rPr>
              <a:t>sim-agent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31520" y="2148840"/>
            <a:ext cx="9800000" cy="73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>
                <a:solidFill>
                  <a:srgbClr val="D9E2EC"/>
                </a:solidFill>
                <a:latin typeface="Calibri"/>
              </a:rPr>
              <a:t>A CLI-first literature agent for simulation papers across MD, QM, QMMM, MC, and CG.</a:t>
            </a:r>
          </a:p>
        </p:txBody>
      </p:sp>
      <p:sp>
        <p:nvSpPr>
          <p:cNvPr id="6" name="Tag 1"/>
          <p:cNvSpPr/>
          <p:nvPr/>
        </p:nvSpPr>
        <p:spPr>
          <a:xfrm>
            <a:off x="731520" y="3368040"/>
            <a:ext cx="2500000" cy="548640"/>
          </a:xfrm>
          <a:prstGeom prst="roundRect">
            <a:avLst/>
          </a:prstGeom>
          <a:solidFill>
            <a:srgbClr val="243B53"/>
          </a:solidFill>
          <a:ln w="12700">
            <a:solidFill>
              <a:srgbClr val="486581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0F4F8"/>
                </a:solidFill>
                <a:latin typeface="Calibri"/>
              </a:rPr>
              <a:t>Retrieval + Reranking</a:t>
            </a:r>
          </a:p>
        </p:txBody>
      </p:sp>
      <p:sp>
        <p:nvSpPr>
          <p:cNvPr id="7" name="Tag 2"/>
          <p:cNvSpPr/>
          <p:nvPr/>
        </p:nvSpPr>
        <p:spPr>
          <a:xfrm>
            <a:off x="3400000" y="3368040"/>
            <a:ext cx="2500000" cy="548640"/>
          </a:xfrm>
          <a:prstGeom prst="roundRect">
            <a:avLst/>
          </a:prstGeom>
          <a:solidFill>
            <a:srgbClr val="243B53"/>
          </a:solidFill>
          <a:ln w="12700">
            <a:solidFill>
              <a:srgbClr val="486581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0F4F8"/>
                </a:solidFill>
                <a:latin typeface="Calibri"/>
              </a:rPr>
              <a:t>Structured Extraction</a:t>
            </a:r>
          </a:p>
        </p:txBody>
      </p:sp>
      <p:sp>
        <p:nvSpPr>
          <p:cNvPr id="8" name="Tag 3"/>
          <p:cNvSpPr/>
          <p:nvPr/>
        </p:nvSpPr>
        <p:spPr>
          <a:xfrm>
            <a:off x="6068480" y="3368040"/>
            <a:ext cx="2500000" cy="548640"/>
          </a:xfrm>
          <a:prstGeom prst="roundRect">
            <a:avLst/>
          </a:prstGeom>
          <a:solidFill>
            <a:srgbClr val="243B53"/>
          </a:solidFill>
          <a:ln w="12700">
            <a:solidFill>
              <a:srgbClr val="486581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0F4F8"/>
                </a:solidFill>
                <a:latin typeface="Calibri"/>
              </a:rPr>
              <a:t>Reports + Artifacts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731520" y="5852160"/>
            <a:ext cx="100000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9FB3C8"/>
                </a:solidFill>
                <a:latin typeface="Calibri"/>
              </a:rPr>
              <a:t>Project summary deck regenerated with pptx skill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27432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>
                <a:solidFill>
                  <a:srgbClr val="102A43"/>
                </a:solidFill>
                <a:latin typeface="Georgia"/>
              </a:rPr>
              <a:t>Pipeline Flowchart</a:t>
            </a:r>
          </a:p>
        </p:txBody>
      </p:sp>
      <p:sp>
        <p:nvSpPr>
          <p:cNvPr id="4" name="Step1"/>
          <p:cNvSpPr/>
          <p:nvPr/>
        </p:nvSpPr>
        <p:spPr>
          <a:xfrm>
            <a:off x="457200" y="2103120"/>
            <a:ext cx="2200000" cy="1463040"/>
          </a:xfrm>
          <a:prstGeom prst="roundRect">
            <a:avLst/>
          </a:prstGeom>
          <a:solidFill>
            <a:srgbClr val="D9E2EC"/>
          </a:solidFill>
          <a:ln w="12700">
            <a:solidFill>
              <a:srgbClr val="486581"/>
            </a:solidFill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02A43"/>
                </a:solidFill>
                <a:latin typeface="Calibri"/>
              </a:rPr>
              <a:t>1. Query Build</a:t>
            </a:r>
          </a:p>
          <a:p>
            <a:pPr algn="ctr"/>
            <a:r>
              <a:rPr lang="en-US" sz="1250">
                <a:solidFill>
                  <a:srgbClr val="243B53"/>
                </a:solidFill>
                <a:latin typeface="Calibri"/>
              </a:rPr>
              <a:t>Topic + keyword expansion</a:t>
            </a:r>
          </a:p>
        </p:txBody>
      </p:sp>
      <p:sp>
        <p:nvSpPr>
          <p:cNvPr id="5" name="Arrow1"/>
          <p:cNvSpPr/>
          <p:nvPr/>
        </p:nvSpPr>
        <p:spPr>
          <a:xfrm>
            <a:off x="2800000" y="2520000"/>
            <a:ext cx="350000" cy="640000"/>
          </a:xfrm>
          <a:prstGeom prst="rightArrow">
            <a:avLst/>
          </a:prstGeom>
          <a:solidFill>
            <a:srgbClr val="4865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tep2"/>
          <p:cNvSpPr/>
          <p:nvPr/>
        </p:nvSpPr>
        <p:spPr>
          <a:xfrm>
            <a:off x="3220000" y="2103120"/>
            <a:ext cx="2200000" cy="1463040"/>
          </a:xfrm>
          <a:prstGeom prst="roundRect">
            <a:avLst/>
          </a:prstGeom>
          <a:solidFill>
            <a:srgbClr val="BCCCDC"/>
          </a:solidFill>
          <a:ln w="12700">
            <a:solidFill>
              <a:srgbClr val="486581"/>
            </a:solidFill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02A43"/>
                </a:solidFill>
                <a:latin typeface="Calibri"/>
              </a:rPr>
              <a:t>2. Retrieve</a:t>
            </a:r>
          </a:p>
          <a:p>
            <a:pPr algn="ctr"/>
            <a:r>
              <a:rPr lang="en-US" sz="1250">
                <a:solidFill>
                  <a:srgbClr val="243B53"/>
                </a:solidFill>
                <a:latin typeface="Calibri"/>
              </a:rPr>
              <a:t>Semantic Scholar candidates</a:t>
            </a:r>
          </a:p>
        </p:txBody>
      </p:sp>
      <p:sp>
        <p:nvSpPr>
          <p:cNvPr id="7" name="Arrow2"/>
          <p:cNvSpPr/>
          <p:nvPr/>
        </p:nvSpPr>
        <p:spPr>
          <a:xfrm>
            <a:off x="5560000" y="2520000"/>
            <a:ext cx="350000" cy="640000"/>
          </a:xfrm>
          <a:prstGeom prst="rightArrow">
            <a:avLst/>
          </a:prstGeom>
          <a:solidFill>
            <a:srgbClr val="4865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tep3"/>
          <p:cNvSpPr/>
          <p:nvPr/>
        </p:nvSpPr>
        <p:spPr>
          <a:xfrm>
            <a:off x="5980000" y="2103120"/>
            <a:ext cx="2200000" cy="1463040"/>
          </a:xfrm>
          <a:prstGeom prst="roundRect">
            <a:avLst/>
          </a:prstGeom>
          <a:solidFill>
            <a:srgbClr val="9FB3C8"/>
          </a:solidFill>
          <a:ln w="12700">
            <a:solidFill>
              <a:srgbClr val="334E68"/>
            </a:solidFill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02A43"/>
                </a:solidFill>
                <a:latin typeface="Calibri"/>
              </a:rPr>
              <a:t>3. Analyze</a:t>
            </a:r>
          </a:p>
          <a:p>
            <a:pPr algn="ctr"/>
            <a:r>
              <a:rPr lang="en-US" sz="1250">
                <a:solidFill>
                  <a:srgbClr val="243B53"/>
                </a:solidFill>
                <a:latin typeface="Calibri"/>
              </a:rPr>
              <a:t>Classify + extract details</a:t>
            </a:r>
          </a:p>
        </p:txBody>
      </p:sp>
      <p:sp>
        <p:nvSpPr>
          <p:cNvPr id="9" name="Arrow3"/>
          <p:cNvSpPr/>
          <p:nvPr/>
        </p:nvSpPr>
        <p:spPr>
          <a:xfrm>
            <a:off x="8320000" y="2520000"/>
            <a:ext cx="350000" cy="640000"/>
          </a:xfrm>
          <a:prstGeom prst="rightArrow">
            <a:avLst/>
          </a:prstGeom>
          <a:solidFill>
            <a:srgbClr val="4865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tep4"/>
          <p:cNvSpPr/>
          <p:nvPr/>
        </p:nvSpPr>
        <p:spPr>
          <a:xfrm>
            <a:off x="8740000" y="2103120"/>
            <a:ext cx="2200000" cy="1463040"/>
          </a:xfrm>
          <a:prstGeom prst="roundRect">
            <a:avLst/>
          </a:prstGeom>
          <a:solidFill>
            <a:srgbClr val="829AB1"/>
          </a:solidFill>
          <a:ln w="12700">
            <a:solidFill>
              <a:srgbClr val="243B53"/>
            </a:solidFill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F0F4F8"/>
                </a:solidFill>
                <a:latin typeface="Calibri"/>
              </a:rPr>
              <a:t>4. Deliver</a:t>
            </a:r>
          </a:p>
          <a:p>
            <a:pPr algn="ctr"/>
            <a:r>
              <a:rPr lang="en-US" sz="1250">
                <a:solidFill>
                  <a:srgbClr val="F0F4F8"/>
                </a:solidFill>
                <a:latin typeface="Calibri"/>
              </a:rPr>
              <a:t>HTML, MD, JSON, SQLite</a:t>
            </a:r>
          </a:p>
        </p:txBody>
      </p:sp>
      <p:sp>
        <p:nvSpPr>
          <p:cNvPr id="11" name="Bottom Note"/>
          <p:cNvSpPr txBox="1"/>
          <p:nvPr/>
        </p:nvSpPr>
        <p:spPr>
          <a:xfrm>
            <a:off x="640080" y="4663440"/>
            <a:ext cx="10800000" cy="1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CCDC"/>
            </a:solidFill>
          </a:ln>
        </p:spPr>
        <p:txBody>
          <a:bodyPr wrap="square" anchor="ctr"/>
          <a:lstStyle/>
          <a:p>
            <a:r>
              <a:rPr lang="en-US" sz="1400">
                <a:solidFill>
                  <a:srgbClr val="334E68"/>
                </a:solidFill>
                <a:latin typeface="Calibri"/>
              </a:rPr>
              <a:t>Two-stage retrieval (broad pool then rerank), PDF-first parsing with abstract fallback, and run-level provenance for repeatability.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27432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>
                <a:solidFill>
                  <a:srgbClr val="102A43"/>
                </a:solidFill>
                <a:latin typeface="Georgia"/>
              </a:rPr>
              <a:t>Usage Playbook</a:t>
            </a:r>
          </a:p>
        </p:txBody>
      </p:sp>
      <p:sp>
        <p:nvSpPr>
          <p:cNvPr id="4" name="Commands Card"/>
          <p:cNvSpPr/>
          <p:nvPr/>
        </p:nvSpPr>
        <p:spPr>
          <a:xfrm>
            <a:off x="640080" y="1143000"/>
            <a:ext cx="5000000" cy="4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CC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Commands Header"/>
          <p:cNvSpPr txBox="1"/>
          <p:nvPr/>
        </p:nvSpPr>
        <p:spPr>
          <a:xfrm>
            <a:off x="822960" y="1325880"/>
            <a:ext cx="463424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243B53"/>
                </a:solidFill>
                <a:latin typeface="Calibri"/>
              </a:rPr>
              <a:t>Core Commands</a:t>
            </a:r>
          </a:p>
        </p:txBody>
      </p:sp>
      <p:sp>
        <p:nvSpPr>
          <p:cNvPr id="6" name="Commands Body"/>
          <p:cNvSpPr txBox="1"/>
          <p:nvPr/>
        </p:nvSpPr>
        <p:spPr>
          <a:xfrm>
            <a:off x="822960" y="1752600"/>
            <a:ext cx="46342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280">
                <a:solidFill>
                  <a:srgbClr val="102A43"/>
                </a:solidFill>
                <a:latin typeface="Consolas"/>
              </a:rPr>
              <a:t>uv run sim-agent run --topic "polymer MD"</a:t>
            </a:r>
          </a:p>
          <a:p>
            <a:r>
              <a:rPr lang="en-US" sz="1280">
                <a:solidFill>
                  <a:srgbClr val="102A43"/>
                </a:solidFill>
                <a:latin typeface="Consolas"/>
              </a:rPr>
              <a:t>uv run sim-agent inspect --run-id &lt;run_id&gt; --paper-id &lt;paper_id&gt;</a:t>
            </a:r>
          </a:p>
          <a:p>
            <a:r>
              <a:rPr lang="en-US" sz="1280">
                <a:solidFill>
                  <a:srgbClr val="102A43"/>
                </a:solidFill>
                <a:latin typeface="Consolas"/>
              </a:rPr>
              <a:t>uv run sim-agent export --run-id &lt;run_id&gt; --format html</a:t>
            </a:r>
          </a:p>
          <a:p>
            <a:r>
              <a:rPr lang="en-US" sz="1500" b="1">
                <a:solidFill>
                  <a:srgbClr val="243B53"/>
                </a:solidFill>
                <a:latin typeface="Calibri"/>
              </a:rPr>
              <a:t>Configuration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sim_agent.toml: defaults, ranking weights, model settings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.env: API keys (e.g., OPENAI_API_KEY)</a:t>
            </a:r>
          </a:p>
        </p:txBody>
      </p:sp>
      <p:sp>
        <p:nvSpPr>
          <p:cNvPr id="7" name="Artifacts Card"/>
          <p:cNvSpPr/>
          <p:nvPr/>
        </p:nvSpPr>
        <p:spPr>
          <a:xfrm>
            <a:off x="6000000" y="1143000"/>
            <a:ext cx="5580000" cy="4600000"/>
          </a:xfrm>
          <a:prstGeom prst="roundRect">
            <a:avLst/>
          </a:prstGeom>
          <a:solidFill>
            <a:srgbClr val="E7EDF3"/>
          </a:solidFill>
          <a:ln w="12700">
            <a:solidFill>
              <a:srgbClr val="9FB3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rtifacts Header"/>
          <p:cNvSpPr txBox="1"/>
          <p:nvPr/>
        </p:nvSpPr>
        <p:spPr>
          <a:xfrm>
            <a:off x="6182880" y="1325880"/>
            <a:ext cx="521424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243B53"/>
                </a:solidFill>
                <a:latin typeface="Calibri"/>
              </a:rPr>
              <a:t>Run Outputs</a:t>
            </a:r>
          </a:p>
        </p:txBody>
      </p:sp>
      <p:sp>
        <p:nvSpPr>
          <p:cNvPr id="9" name="Artifacts Body"/>
          <p:cNvSpPr txBox="1"/>
          <p:nvPr/>
        </p:nvSpPr>
        <p:spPr>
          <a:xfrm>
            <a:off x="6182880" y="1752600"/>
            <a:ext cx="52142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50" b="1">
                <a:solidFill>
                  <a:srgbClr val="243B53"/>
                </a:solidFill>
                <a:latin typeface="Calibri"/>
              </a:rPr>
              <a:t>outputs/runs/&lt;run_id&gt;/</a:t>
            </a:r>
          </a:p>
          <a:p>
            <a:r>
              <a:rPr lang="en-US" sz="1380">
                <a:solidFill>
                  <a:srgbClr val="334E68"/>
                </a:solidFill>
                <a:latin typeface="Calibri"/>
              </a:rPr>
              <a:t>- manifest.json (configuration + metrics)</a:t>
            </a:r>
          </a:p>
          <a:p>
            <a:r>
              <a:rPr lang="en-US" sz="1380">
                <a:solidFill>
                  <a:srgbClr val="334E68"/>
                </a:solidFill>
                <a:latin typeface="Calibri"/>
              </a:rPr>
              <a:t>- report.md and report.html</a:t>
            </a:r>
          </a:p>
          <a:p>
            <a:r>
              <a:rPr lang="en-US" sz="1380">
                <a:solidFill>
                  <a:srgbClr val="334E68"/>
                </a:solidFill>
                <a:latin typeface="Calibri"/>
              </a:rPr>
              <a:t>- aggregate.json + per-paper records</a:t>
            </a:r>
          </a:p>
          <a:p>
            <a:r>
              <a:rPr lang="en-US" sz="1380">
                <a:solidFill>
                  <a:srgbClr val="334E68"/>
                </a:solidFill>
                <a:latin typeface="Calibri"/>
              </a:rPr>
              <a:t>- candidate_titles.json (selection trace)</a:t>
            </a:r>
          </a:p>
          <a:p>
            <a:r>
              <a:rPr lang="en-US" sz="1380">
                <a:solidFill>
                  <a:srgbClr val="334E68"/>
                </a:solidFill>
                <a:latin typeface="Calibri"/>
              </a:rPr>
              <a:t>- optional outputs/sim_agent.db index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40080" y="5940000"/>
            <a:ext cx="108000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486581"/>
                </a:solidFill>
                <a:latin typeface="Calibri"/>
              </a:rPr>
              <a:t>Tip: open report.html first, then drill into inspect/export for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27432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>
                <a:solidFill>
                  <a:srgbClr val="102A43"/>
                </a:solidFill>
                <a:latin typeface="Georgia"/>
              </a:rPr>
              <a:t>What Is Inside summary.html</a:t>
            </a:r>
          </a:p>
        </p:txBody>
      </p:sp>
      <p:sp>
        <p:nvSpPr>
          <p:cNvPr id="4" name="Card1"/>
          <p:cNvSpPr/>
          <p:nvPr/>
        </p:nvSpPr>
        <p:spPr>
          <a:xfrm>
            <a:off x="640080" y="1371600"/>
            <a:ext cx="3100000" cy="35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5D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Card1Text"/>
          <p:cNvSpPr txBox="1"/>
          <p:nvPr/>
        </p:nvSpPr>
        <p:spPr>
          <a:xfrm>
            <a:off x="822960" y="1554480"/>
            <a:ext cx="2734240" cy="319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Header Card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Run ID and generated time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Topic and papers analyzed (20)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Type breakdown list</a:t>
            </a:r>
          </a:p>
        </p:txBody>
      </p:sp>
      <p:sp>
        <p:nvSpPr>
          <p:cNvPr id="6" name="Card2"/>
          <p:cNvSpPr/>
          <p:nvPr/>
        </p:nvSpPr>
        <p:spPr>
          <a:xfrm>
            <a:off x="4500000" y="1371600"/>
            <a:ext cx="3100000" cy="35600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9FB3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ard2Text"/>
          <p:cNvSpPr txBox="1"/>
          <p:nvPr/>
        </p:nvSpPr>
        <p:spPr>
          <a:xfrm>
            <a:off x="4682880" y="1554480"/>
            <a:ext cx="2734240" cy="319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Per-Paper Cards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One card per selected paper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Metadata + summary + reference link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System build protocol and steps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MD details block when type is MD</a:t>
            </a:r>
          </a:p>
        </p:txBody>
      </p:sp>
      <p:sp>
        <p:nvSpPr>
          <p:cNvPr id="8" name="Card3"/>
          <p:cNvSpPr/>
          <p:nvPr/>
        </p:nvSpPr>
        <p:spPr>
          <a:xfrm>
            <a:off x="8360000" y="1371600"/>
            <a:ext cx="3100000" cy="356000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829AB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3Text"/>
          <p:cNvSpPr txBox="1"/>
          <p:nvPr/>
        </p:nvSpPr>
        <p:spPr>
          <a:xfrm>
            <a:off x="8542880" y="1554480"/>
            <a:ext cx="2734240" cy="319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For This Run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HTML file: summary.html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- 20 paper cards rendered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Model used: gpt-5.2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Validation flags: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27432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>
                <a:solidFill>
                  <a:srgbClr val="102A43"/>
                </a:solidFill>
                <a:latin typeface="Georgia"/>
              </a:rPr>
              <a:t>Previous Output Summary (Run Snapshot)</a:t>
            </a:r>
          </a:p>
        </p:txBody>
      </p:sp>
      <p:sp>
        <p:nvSpPr>
          <p:cNvPr id="4" name="Metric1"/>
          <p:cNvSpPr/>
          <p:nvPr/>
        </p:nvSpPr>
        <p:spPr>
          <a:xfrm>
            <a:off x="640080" y="1249680"/>
            <a:ext cx="2500000" cy="120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</a:rPr>
              <a:t>20</a:t>
            </a:r>
          </a:p>
          <a:p>
            <a:pPr algn="ctr"/>
            <a:r>
              <a:rPr lang="en-US" sz="1200">
                <a:solidFill>
                  <a:srgbClr val="D9E2EC"/>
                </a:solidFill>
                <a:latin typeface="Calibri"/>
              </a:rPr>
              <a:t>Papers analyzed</a:t>
            </a:r>
          </a:p>
        </p:txBody>
      </p:sp>
      <p:sp>
        <p:nvSpPr>
          <p:cNvPr id="5" name="Metric2"/>
          <p:cNvSpPr/>
          <p:nvPr/>
        </p:nvSpPr>
        <p:spPr>
          <a:xfrm>
            <a:off x="3390000" y="1249680"/>
            <a:ext cx="2500000" cy="1200000"/>
          </a:xfrm>
          <a:prstGeom prst="roundRect">
            <a:avLst/>
          </a:prstGeom>
          <a:solidFill>
            <a:srgbClr val="243B53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</a:rPr>
              <a:t>175</a:t>
            </a:r>
          </a:p>
          <a:p>
            <a:pPr algn="ctr"/>
            <a:r>
              <a:rPr lang="en-US" sz="1200">
                <a:solidFill>
                  <a:srgbClr val="D9E2EC"/>
                </a:solidFill>
                <a:latin typeface="Calibri"/>
              </a:rPr>
              <a:t>Candidates retrieved</a:t>
            </a:r>
          </a:p>
        </p:txBody>
      </p:sp>
      <p:sp>
        <p:nvSpPr>
          <p:cNvPr id="6" name="Metric3"/>
          <p:cNvSpPr/>
          <p:nvPr/>
        </p:nvSpPr>
        <p:spPr>
          <a:xfrm>
            <a:off x="6140000" y="1249680"/>
            <a:ext cx="2500000" cy="1200000"/>
          </a:xfrm>
          <a:prstGeom prst="roundRect">
            <a:avLst/>
          </a:prstGeom>
          <a:solidFill>
            <a:srgbClr val="48658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</a:rPr>
              <a:t>85</a:t>
            </a:r>
          </a:p>
          <a:p>
            <a:pPr algn="ctr"/>
            <a:r>
              <a:rPr lang="en-US" sz="1200">
                <a:solidFill>
                  <a:srgbClr val="D9E2EC"/>
                </a:solidFill>
                <a:latin typeface="Calibri"/>
              </a:rPr>
              <a:t>Heuristic pool</a:t>
            </a:r>
          </a:p>
        </p:txBody>
      </p:sp>
      <p:sp>
        <p:nvSpPr>
          <p:cNvPr id="7" name="Metric4"/>
          <p:cNvSpPr/>
          <p:nvPr/>
        </p:nvSpPr>
        <p:spPr>
          <a:xfrm>
            <a:off x="8900000" y="1249680"/>
            <a:ext cx="2500000" cy="1200000"/>
          </a:xfrm>
          <a:prstGeom prst="roundRect">
            <a:avLst/>
          </a:prstGeom>
          <a:solidFill>
            <a:srgbClr val="829AB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</a:rPr>
              <a:t>20</a:t>
            </a:r>
          </a:p>
          <a:p>
            <a:pPr algn="ctr"/>
            <a:r>
              <a:rPr lang="en-US" sz="1200">
                <a:solidFill>
                  <a:srgbClr val="E7EDF3"/>
                </a:solidFill>
                <a:latin typeface="Calibri"/>
              </a:rPr>
              <a:t>Final selected</a:t>
            </a:r>
          </a:p>
        </p:txBody>
      </p:sp>
      <p:sp>
        <p:nvSpPr>
          <p:cNvPr id="8" name="BreakdownCard"/>
          <p:cNvSpPr/>
          <p:nvPr/>
        </p:nvSpPr>
        <p:spPr>
          <a:xfrm>
            <a:off x="640080" y="2865120"/>
            <a:ext cx="5200000" cy="2743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7C5D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BreakdownText"/>
          <p:cNvSpPr txBox="1"/>
          <p:nvPr/>
        </p:nvSpPr>
        <p:spPr>
          <a:xfrm>
            <a:off x="822960" y="3048000"/>
            <a:ext cx="4834240" cy="23774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Classification Breakdown</a:t>
            </a:r>
          </a:p>
          <a:p>
            <a:r>
              <a:rPr lang="en-US" sz="1450">
                <a:solidFill>
                  <a:srgbClr val="334E68"/>
                </a:solidFill>
                <a:latin typeface="Calibri"/>
              </a:rPr>
              <a:t>MD: 9 | CG: 7 | MC: 1</a:t>
            </a:r>
          </a:p>
          <a:p>
            <a:r>
              <a:rPr lang="en-US" sz="1450">
                <a:solidFill>
                  <a:srgbClr val="334E68"/>
                </a:solidFill>
                <a:latin typeface="Calibri"/>
              </a:rPr>
              <a:t>QM: 1 | Other/Unknown: 2</a:t>
            </a:r>
          </a:p>
        </p:txBody>
      </p:sp>
      <p:sp>
        <p:nvSpPr>
          <p:cNvPr id="10" name="ProvenanceCard"/>
          <p:cNvSpPr/>
          <p:nvPr/>
        </p:nvSpPr>
        <p:spPr>
          <a:xfrm>
            <a:off x="6100000" y="2865120"/>
            <a:ext cx="5300000" cy="2743200"/>
          </a:xfrm>
          <a:prstGeom prst="roundRect">
            <a:avLst/>
          </a:prstGeom>
          <a:solidFill>
            <a:srgbClr val="E7EDF3"/>
          </a:solidFill>
          <a:ln w="12700">
            <a:solidFill>
              <a:srgbClr val="9FB3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ProvenanceText"/>
          <p:cNvSpPr txBox="1"/>
          <p:nvPr/>
        </p:nvSpPr>
        <p:spPr>
          <a:xfrm>
            <a:off x="6282880" y="3048000"/>
            <a:ext cx="4934240" cy="23774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Selection + Source</a:t>
            </a:r>
          </a:p>
          <a:p>
            <a:r>
              <a:rPr lang="en-US" sz="1450">
                <a:solidFill>
                  <a:srgbClr val="334E68"/>
                </a:solidFill>
                <a:latin typeface="Calibri"/>
              </a:rPr>
              <a:t>Selection mode: llm-title-rerank</a:t>
            </a:r>
          </a:p>
          <a:p>
            <a:r>
              <a:rPr lang="en-US" sz="1450">
                <a:solidFill>
                  <a:srgbClr val="334E68"/>
                </a:solidFill>
                <a:latin typeface="Calibri"/>
              </a:rPr>
              <a:t>Source mode counts: PDF 0, Abstract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27432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>
                <a:solidFill>
                  <a:srgbClr val="FFFFFF"/>
                </a:solidFill>
                <a:latin typeface="Georgia"/>
              </a:rPr>
              <a:t>How To Read the HTML Output Quickly</a:t>
            </a:r>
          </a:p>
        </p:txBody>
      </p:sp>
      <p:sp>
        <p:nvSpPr>
          <p:cNvPr id="4" name="LeftCard"/>
          <p:cNvSpPr/>
          <p:nvPr/>
        </p:nvSpPr>
        <p:spPr>
          <a:xfrm>
            <a:off x="640080" y="1188720"/>
            <a:ext cx="5300000" cy="4663440"/>
          </a:xfrm>
          <a:prstGeom prst="roundRect">
            <a:avLst/>
          </a:prstGeom>
          <a:solidFill>
            <a:srgbClr val="243B53"/>
          </a:solidFill>
          <a:ln w="12700">
            <a:solidFill>
              <a:srgbClr val="4865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eftText"/>
          <p:cNvSpPr txBox="1"/>
          <p:nvPr/>
        </p:nvSpPr>
        <p:spPr>
          <a:xfrm>
            <a:off x="822960" y="1371600"/>
            <a:ext cx="4934240" cy="42976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F0F4F8"/>
                </a:solidFill>
                <a:latin typeface="Calibri"/>
              </a:rPr>
              <a:t>Quick Navigation</a:t>
            </a:r>
          </a:p>
          <a:p>
            <a:r>
              <a:rPr lang="en-US" sz="1400">
                <a:solidFill>
                  <a:srgbClr val="D9E2EC"/>
                </a:solidFill>
                <a:latin typeface="Calibri"/>
              </a:rPr>
              <a:t>1) Open outputs/runs/&lt;run_id&gt;/summary.html</a:t>
            </a:r>
          </a:p>
          <a:p>
            <a:r>
              <a:rPr lang="en-US" sz="1400">
                <a:solidFill>
                  <a:srgbClr val="D9E2EC"/>
                </a:solidFill>
                <a:latin typeface="Calibri"/>
              </a:rPr>
              <a:t>2) Read top card for run metadata and type mix</a:t>
            </a:r>
          </a:p>
          <a:p>
            <a:r>
              <a:rPr lang="en-US" sz="1400">
                <a:solidFill>
                  <a:srgbClr val="D9E2EC"/>
                </a:solidFill>
                <a:latin typeface="Calibri"/>
              </a:rPr>
              <a:t>3) Scroll paper cards by year/type confidence</a:t>
            </a:r>
          </a:p>
          <a:p>
            <a:r>
              <a:rPr lang="en-US" sz="1400">
                <a:solidFill>
                  <a:srgbClr val="D9E2EC"/>
                </a:solidFill>
                <a:latin typeface="Calibri"/>
              </a:rPr>
              <a:t>4) Follow reference links for full papers</a:t>
            </a:r>
          </a:p>
          <a:p>
            <a:r>
              <a:rPr lang="en-US" sz="1400">
                <a:solidFill>
                  <a:srgbClr val="D9E2EC"/>
                </a:solidFill>
                <a:latin typeface="Calibri"/>
              </a:rPr>
              <a:t>Run ID in previous summary:</a:t>
            </a:r>
          </a:p>
          <a:p>
            <a:r>
              <a:rPr lang="en-US" sz="1200">
                <a:solidFill>
                  <a:srgbClr val="9FB3C8"/>
                </a:solidFill>
                <a:latin typeface="Consolas"/>
              </a:rPr>
              <a:t>run_20260219_172930_molecular_simulation_on_polymer_considering_crys</a:t>
            </a:r>
          </a:p>
        </p:txBody>
      </p:sp>
      <p:sp>
        <p:nvSpPr>
          <p:cNvPr id="6" name="RightCard"/>
          <p:cNvSpPr/>
          <p:nvPr/>
        </p:nvSpPr>
        <p:spPr>
          <a:xfrm>
            <a:off x="6150000" y="1188720"/>
            <a:ext cx="5400000" cy="466344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9FB3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ightText"/>
          <p:cNvSpPr txBox="1"/>
          <p:nvPr/>
        </p:nvSpPr>
        <p:spPr>
          <a:xfrm>
            <a:off x="6332880" y="1371600"/>
            <a:ext cx="5034240" cy="42976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b="1">
                <a:solidFill>
                  <a:srgbClr val="243B53"/>
                </a:solidFill>
                <a:latin typeface="Calibri"/>
              </a:rPr>
              <a:t>Per-Paper Card Fields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Meta line: paper ID, year, type, confidence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Summary paragraph (LLM extracted)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System build protocol + ordered build steps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MD details panel (only for MD papers)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This run caveat: PDF 0, Abstract 20</a:t>
            </a:r>
          </a:p>
          <a:p>
            <a:r>
              <a:rPr lang="en-US" sz="1400">
                <a:solidFill>
                  <a:srgbClr val="334E68"/>
                </a:solidFill>
                <a:latin typeface="Calibri"/>
              </a:rPr>
              <a:t>- Topic from previous summary: molecular simulation on polymer considering crystallinity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40080" y="182880"/>
            <a:ext cx="10800000" cy="6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 dirty="0">
                <a:solidFill>
                  <a:srgbClr val="102A43"/>
                </a:solidFill>
                <a:latin typeface="Georgia"/>
              </a:rPr>
              <a:t>Exact Output Summary Snapshot (Verbatim Excerpts)</a:t>
            </a:r>
          </a:p>
        </p:txBody>
      </p:sp>
      <p:sp>
        <p:nvSpPr>
          <p:cNvPr id="4" name="LeftCard"/>
          <p:cNvSpPr/>
          <p:nvPr/>
        </p:nvSpPr>
        <p:spPr>
          <a:xfrm>
            <a:off x="457200" y="914400"/>
            <a:ext cx="5580000" cy="5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5D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eftHeader"/>
          <p:cNvSpPr txBox="1"/>
          <p:nvPr/>
        </p:nvSpPr>
        <p:spPr>
          <a:xfrm>
            <a:off x="640080" y="1097280"/>
            <a:ext cx="5214240" cy="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243B53"/>
                </a:solidFill>
                <a:latin typeface="Calibri"/>
              </a:rPr>
              <a:t>From summary.md (exact excerpt)</a:t>
            </a:r>
          </a:p>
        </p:txBody>
      </p:sp>
      <p:sp>
        <p:nvSpPr>
          <p:cNvPr id="6" name="LeftBody"/>
          <p:cNvSpPr txBox="1"/>
          <p:nvPr/>
        </p:nvSpPr>
        <p:spPr>
          <a:xfrm>
            <a:off x="640080" y="1432560"/>
            <a:ext cx="5214240" cy="443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20">
                <a:solidFill>
                  <a:srgbClr val="243B53"/>
                </a:solidFill>
                <a:latin typeface="Consolas"/>
              </a:rPr>
              <a:t># Simulation Literature Report</a:t>
            </a:r>
          </a:p>
          <a:p>
            <a:endParaRPr lang="en-US" sz="1020">
              <a:solidFill>
                <a:srgbClr val="243B53"/>
              </a:solidFill>
              <a:latin typeface="Consolas"/>
            </a:endParaRP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Run ID: `run_20260219_172930_molecular_simulation_on_polymer_considering_crys`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Generated at (UTC): `2026-02-19T17:36:38.856262+00:00`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Topic: molecular simulation on polymer considering crystallinity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Papers analyzed: 20</a:t>
            </a:r>
          </a:p>
          <a:p>
            <a:endParaRPr lang="en-US" sz="1020">
              <a:solidFill>
                <a:srgbClr val="243B53"/>
              </a:solidFill>
              <a:latin typeface="Consolas"/>
            </a:endParaRP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## Simulation Type Breakdown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CG: 7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MC: 1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MD: 9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Other/Unknown: 2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QM: 1</a:t>
            </a:r>
          </a:p>
          <a:p>
            <a:endParaRPr lang="en-US" sz="1020">
              <a:solidFill>
                <a:srgbClr val="243B53"/>
              </a:solidFill>
              <a:latin typeface="Consolas"/>
            </a:endParaRP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## Cross-Paper Synthesis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### CG</a:t>
            </a:r>
          </a:p>
          <a:p>
            <a:r>
              <a:rPr lang="en-US" sz="1020">
                <a:solidFill>
                  <a:srgbClr val="243B53"/>
                </a:solidFill>
                <a:latin typeface="Consolas"/>
              </a:rPr>
              <a:t>- Frequent engines/tools: N/A</a:t>
            </a:r>
          </a:p>
        </p:txBody>
      </p:sp>
      <p:sp>
        <p:nvSpPr>
          <p:cNvPr id="7" name="RightCard"/>
          <p:cNvSpPr/>
          <p:nvPr/>
        </p:nvSpPr>
        <p:spPr>
          <a:xfrm>
            <a:off x="6248400" y="914400"/>
            <a:ext cx="5486400" cy="530000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9FB3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ightHeader"/>
          <p:cNvSpPr txBox="1"/>
          <p:nvPr/>
        </p:nvSpPr>
        <p:spPr>
          <a:xfrm>
            <a:off x="6431280" y="1097280"/>
            <a:ext cx="5120640" cy="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243B53"/>
                </a:solidFill>
                <a:latin typeface="Calibri"/>
              </a:rPr>
              <a:t>From run_manifest.json (exact excerpt)</a:t>
            </a:r>
          </a:p>
        </p:txBody>
      </p:sp>
      <p:sp>
        <p:nvSpPr>
          <p:cNvPr id="9" name="RightBody"/>
          <p:cNvSpPr txBox="1"/>
          <p:nvPr/>
        </p:nvSpPr>
        <p:spPr>
          <a:xfrm>
            <a:off x="6431280" y="1432560"/>
            <a:ext cx="5120640" cy="443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243B53"/>
                </a:solidFill>
                <a:latin typeface="Consolas"/>
              </a:rPr>
              <a:t>{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"run_id": "run_20260219_172930_molecular_simulation_on_polymer_considering_crys",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"topic": "molecular simulation on polymer considering crystallinity",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"created_at": "2026-02-19T17:29:30.770113+00:00",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"top_n": 20,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"years": 10,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"deep_profiles": [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"MD"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],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"custom_fields": [],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"paper_count": 20,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"classification_breakdown": {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"MD": 9,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"CG": 7,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"QM": 1,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"MC": 1,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"Other/Unknown": 2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},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"pdf_mode_count": 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"abstract_mode_count": 20,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"total_validation_flags": 0,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"model_used": "gpt-5.2",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"retrieval_keywords": [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"molecular simulation on polymer considering crystallinity",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"molecular dynamics simulation semicrystalline polymers",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"polymer crystallinity atomistic simulation",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"coarse-grained simulation polymer crystallization",</a:t>
            </a:r>
          </a:p>
          <a:p>
            <a:r>
              <a:rPr lang="en-US" sz="1000">
                <a:solidFill>
                  <a:srgbClr val="243B53"/>
                </a:solidFill>
                <a:latin typeface="Consolas"/>
              </a:rPr>
              <a:t>    "crystal-amorphous interface polymer MD",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40080" y="6311880"/>
            <a:ext cx="108000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80">
                <a:solidFill>
                  <a:srgbClr val="486581"/>
                </a:solidFill>
                <a:latin typeface="Calibri"/>
              </a:rPr>
              <a:t>Source files: outputs/runs/run_20260219_172930_molecular_simulation_on_polymer_considering_crys/summary.md and run_manifest.json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867</Words>
  <Application>Microsoft Macintosh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Alisha Schor</dc:creator>
  <cp:lastModifiedBy>Chen, Yangtao</cp:lastModifiedBy>
  <cp:revision>8</cp:revision>
  <dcterms:created xsi:type="dcterms:W3CDTF">2022-02-08T19:07:08Z</dcterms:created>
  <dcterms:modified xsi:type="dcterms:W3CDTF">2026-02-19T20:11:32Z</dcterms:modified>
</cp:coreProperties>
</file>